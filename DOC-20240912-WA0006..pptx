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9" r:id="rId9"/>
    <p:sldId id="263" r:id="rId10"/>
    <p:sldId id="264" r:id="rId11"/>
    <p:sldId id="265" r:id="rId12"/>
    <p:sldId id="268"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12-09-2024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Layout" Target="../slideLayouts/slideLayout4.xml" /><Relationship Id="rId4" Type="http://schemas.openxmlformats.org/officeDocument/2006/relationships/image" Target="../media/image4.jp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6.png"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8.jp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image" Target="../media/image10.png" /><Relationship Id="rId1" Type="http://schemas.openxmlformats.org/officeDocument/2006/relationships/slideLayout" Target="../slideLayouts/slideLayout4.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828675" y="19665"/>
            <a:ext cx="9982200" cy="1001556"/>
          </a:xfrm>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id="{D55ADE35-C35B-07C1-F5AA-C33B3DDB802E}"/>
              </a:ext>
            </a:extLst>
          </p:cNvPr>
          <p:cNvSpPr txBox="1"/>
          <p:nvPr/>
        </p:nvSpPr>
        <p:spPr>
          <a:xfrm>
            <a:off x="2554542" y="3314150"/>
            <a:ext cx="8610600" cy="1938992"/>
          </a:xfrm>
          <a:prstGeom prst="rect">
            <a:avLst/>
          </a:prstGeom>
          <a:noFill/>
        </p:spPr>
        <p:txBody>
          <a:bodyPr wrap="square" rtlCol="0">
            <a:spAutoFit/>
          </a:bodyPr>
          <a:lstStyle/>
          <a:p>
            <a:r>
              <a:rPr lang="en-US" sz="2400" dirty="0"/>
              <a:t>STUDENT NAME:</a:t>
            </a:r>
            <a:r>
              <a:rPr lang="en-IN" sz="2400" dirty="0"/>
              <a:t> J. DURGASRI</a:t>
            </a:r>
            <a:endParaRPr lang="en-US" sz="2400" dirty="0"/>
          </a:p>
          <a:p>
            <a:r>
              <a:rPr lang="en-US" sz="2400" dirty="0"/>
              <a:t>REGISTER NO:</a:t>
            </a:r>
            <a:r>
              <a:rPr lang="en-IN" sz="2400" dirty="0"/>
              <a:t> 312218824</a:t>
            </a:r>
            <a:endParaRPr lang="en-US" sz="2400" dirty="0"/>
          </a:p>
          <a:p>
            <a:r>
              <a:rPr lang="en-US" sz="2400" dirty="0"/>
              <a:t>DEPARTMENT:</a:t>
            </a:r>
            <a:r>
              <a:rPr lang="en-IN" sz="2400" dirty="0"/>
              <a:t> </a:t>
            </a:r>
            <a:r>
              <a:rPr lang="en-IN" sz="2400" dirty="0" err="1"/>
              <a:t>B.com</a:t>
            </a:r>
            <a:r>
              <a:rPr lang="en-IN" sz="2400" dirty="0"/>
              <a:t> Accounting &amp; Finance</a:t>
            </a:r>
            <a:endParaRPr lang="en-US" sz="2400" dirty="0"/>
          </a:p>
          <a:p>
            <a:r>
              <a:rPr lang="en-US" sz="2400" dirty="0"/>
              <a:t>COLLEGE</a:t>
            </a:r>
            <a:r>
              <a:rPr lang="en-IN" sz="2400" dirty="0"/>
              <a:t> : </a:t>
            </a:r>
            <a:r>
              <a:rPr lang="en-IN" sz="2400" dirty="0" err="1"/>
              <a:t>Avichi</a:t>
            </a:r>
            <a:r>
              <a:rPr lang="en-IN" sz="2400" dirty="0"/>
              <a:t> College of Arts &amp;Science</a:t>
            </a:r>
            <a:endParaRPr lang="en-US" sz="2400" dirty="0"/>
          </a:p>
          <a:p>
            <a:r>
              <a:rPr lang="en-US" sz="2400" dirty="0"/>
              <a:t>           </a:t>
            </a:r>
            <a:endParaRPr lang="en-IN" sz="2400" dirty="0"/>
          </a:p>
        </p:txBody>
      </p:sp>
      <p:sp>
        <p:nvSpPr>
          <p:cNvPr id="8" name="TextBox 7">
            <a:extLst>
              <a:ext uri="{FF2B5EF4-FFF2-40B4-BE49-F238E27FC236}">
                <a16:creationId xmlns:a16="http://schemas.microsoft.com/office/drawing/2014/main" id="{926FBFF6-54C0-4BE2-7EE3-C3E1124B832A}"/>
              </a:ext>
            </a:extLst>
          </p:cNvPr>
          <p:cNvSpPr txBox="1"/>
          <p:nvPr/>
        </p:nvSpPr>
        <p:spPr>
          <a:xfrm>
            <a:off x="4775200" y="2474258"/>
            <a:ext cx="1828800" cy="1828800"/>
          </a:xfrm>
          <a:prstGeom prst="rect">
            <a:avLst/>
          </a:prstGeom>
          <a:noFill/>
        </p:spPr>
        <p:txBody>
          <a:bodyPr wrap="square" rtlCol="0">
            <a:spAutoFit/>
          </a:bodyPr>
          <a:lstStyle/>
          <a:p>
            <a:pPr algn="l"/>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3" name="TextBox 22">
            <a:extLst>
              <a:ext uri="{FF2B5EF4-FFF2-40B4-BE49-F238E27FC236}">
                <a16:creationId xmlns:a16="http://schemas.microsoft.com/office/drawing/2014/main" id="{F691EEC8-E83B-8506-163B-F39E906CCC0A}"/>
              </a:ext>
            </a:extLst>
          </p:cNvPr>
          <p:cNvSpPr txBox="1"/>
          <p:nvPr/>
        </p:nvSpPr>
        <p:spPr>
          <a:xfrm>
            <a:off x="1217522" y="2123271"/>
            <a:ext cx="8593228" cy="1446550"/>
          </a:xfrm>
          <a:prstGeom prst="rect">
            <a:avLst/>
          </a:prstGeom>
          <a:noFill/>
        </p:spPr>
        <p:txBody>
          <a:bodyPr wrap="square" rtlCol="0">
            <a:spAutoFit/>
          </a:bodyPr>
          <a:lstStyle/>
          <a:p>
            <a:r>
              <a:rPr lang="en-US" sz="4400" b="1" dirty="0">
                <a:solidFill>
                  <a:srgbClr val="0F0F0F"/>
                </a:solidFill>
                <a:latin typeface="Times New Roman" panose="02020603050405020304" pitchFamily="18" charset="0"/>
                <a:cs typeface="Times New Roman" panose="02020603050405020304" pitchFamily="18" charset="0"/>
              </a:rPr>
              <a:t>Employee Performance Analysis using Excel</a:t>
            </a:r>
            <a:endParaRPr lang="en-IN" sz="28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401205"/>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Our Solution and Proposition</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Dataset Description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Modelling Approach</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Discussion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TextBox 10">
            <a:extLst>
              <a:ext uri="{FF2B5EF4-FFF2-40B4-BE49-F238E27FC236}">
                <a16:creationId xmlns:a16="http://schemas.microsoft.com/office/drawing/2014/main" id="{CDF2D044-3EF7-E240-54FF-36AD0E563566}"/>
              </a:ext>
            </a:extLst>
          </p:cNvPr>
          <p:cNvSpPr txBox="1"/>
          <p:nvPr/>
        </p:nvSpPr>
        <p:spPr>
          <a:xfrm>
            <a:off x="751261" y="1828859"/>
            <a:ext cx="6101976" cy="3693319"/>
          </a:xfrm>
          <a:prstGeom prst="rect">
            <a:avLst/>
          </a:prstGeom>
          <a:noFill/>
        </p:spPr>
        <p:txBody>
          <a:bodyPr wrap="square">
            <a:spAutoFit/>
          </a:bodyPr>
          <a:lstStyle/>
          <a:p>
            <a:r>
              <a:rPr lang="en-US" dirty="0"/>
              <a:t>A problem statement for employee performance analysis using Excel might </a:t>
            </a:r>
            <a:r>
              <a:rPr lang="en-US" dirty="0" err="1"/>
              <a:t>be:"To</a:t>
            </a:r>
            <a:r>
              <a:rPr lang="en-US" dirty="0"/>
              <a:t> effectively manage and improve employee performance, the company needs a comprehensive analysis tool to evaluate various performance metrics. Currently, there is no standardized method to track and assess individual employee performance over time. The objective is to develop an Excel-based performance analysis model that integrates key performance indicators (KPIs), such as productivity, quality of work, and attendance. This model should allow for the systematic collection, visualization, and interpretation of performance data to identify trends, benchmark performance, and support data-driven decision-making for performance reviews and development plans."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1" name="TextBox 10">
            <a:extLst>
              <a:ext uri="{FF2B5EF4-FFF2-40B4-BE49-F238E27FC236}">
                <a16:creationId xmlns:a16="http://schemas.microsoft.com/office/drawing/2014/main" id="{F050B57B-77CA-84FA-9910-3F41C17BBB48}"/>
              </a:ext>
            </a:extLst>
          </p:cNvPr>
          <p:cNvSpPr txBox="1"/>
          <p:nvPr/>
        </p:nvSpPr>
        <p:spPr>
          <a:xfrm>
            <a:off x="990600" y="2133600"/>
            <a:ext cx="7924800" cy="830997"/>
          </a:xfrm>
          <a:prstGeom prst="rect">
            <a:avLst/>
          </a:prstGeom>
          <a:noFill/>
        </p:spPr>
        <p:txBody>
          <a:bodyPr wrap="square" rtlCol="0">
            <a:spAutoFit/>
          </a:bodyPr>
          <a:lstStyle/>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EBEA833-7D4C-1A2D-347B-15D350505E40}"/>
              </a:ext>
            </a:extLst>
          </p:cNvPr>
          <p:cNvSpPr txBox="1"/>
          <p:nvPr/>
        </p:nvSpPr>
        <p:spPr>
          <a:xfrm>
            <a:off x="594099" y="1908315"/>
            <a:ext cx="6101976" cy="3693319"/>
          </a:xfrm>
          <a:prstGeom prst="rect">
            <a:avLst/>
          </a:prstGeom>
          <a:noFill/>
        </p:spPr>
        <p:txBody>
          <a:bodyPr wrap="square">
            <a:spAutoFit/>
          </a:bodyPr>
          <a:lstStyle/>
          <a:p>
            <a:r>
              <a:rPr lang="en-US" dirty="0"/>
              <a:t>Project Overview: Employee Performance Analysis Using </a:t>
            </a:r>
            <a:r>
              <a:rPr lang="en-US" dirty="0" err="1"/>
              <a:t>ExcelThe</a:t>
            </a:r>
            <a:r>
              <a:rPr lang="en-US" dirty="0"/>
              <a:t> project aims to create an Excel-based tool for analyzing and visualizing employee performance metrics. The tool will integrate key performance indicators (KPIs) such as productivity, quality of work, and attendance to offer comprehensive insights. It will include data collection, analysis, and visualization features to track and benchmark individual and team performance. Deliverables will consist of an Excel workbook with dashboards and reports, accompanied by user training and documentation. The project will be executed over six weeks, involving data definition, tool development, and user training, with a focus on ensuring data accuracy and user adoption.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Box 8">
            <a:extLst>
              <a:ext uri="{FF2B5EF4-FFF2-40B4-BE49-F238E27FC236}">
                <a16:creationId xmlns:a16="http://schemas.microsoft.com/office/drawing/2014/main" id="{D6B5A726-9D21-A9AC-4C5F-5446CCF7E0EC}"/>
              </a:ext>
            </a:extLst>
          </p:cNvPr>
          <p:cNvSpPr txBox="1"/>
          <p:nvPr/>
        </p:nvSpPr>
        <p:spPr>
          <a:xfrm>
            <a:off x="457200" y="2019300"/>
            <a:ext cx="6101976" cy="2862322"/>
          </a:xfrm>
          <a:prstGeom prst="rect">
            <a:avLst/>
          </a:prstGeom>
          <a:noFill/>
        </p:spPr>
        <p:txBody>
          <a:bodyPr wrap="square">
            <a:spAutoFit/>
          </a:bodyPr>
          <a:lstStyle/>
          <a:p>
            <a:r>
              <a:rPr lang="en-US" dirty="0"/>
              <a:t>The end users of the employee performance analysis tool in Excel are:1. HR Personnel: For tracking, analyzing, and managing employee performance data.2. Managers and Team Leaders: To monitor team and individual performance, provide feedback, and make informed decisions regarding performance reviews and development plans.3. Executives: For strategic decision-making and evaluating overall organizational performance trends.4. Employees: To view their own performance metrics and receive feedback (if the system allows for self-access).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0" name="TextBox 9">
            <a:extLst>
              <a:ext uri="{FF2B5EF4-FFF2-40B4-BE49-F238E27FC236}">
                <a16:creationId xmlns:a16="http://schemas.microsoft.com/office/drawing/2014/main" id="{52DB0F4A-A5EE-6937-0030-1E1A330E7642}"/>
              </a:ext>
            </a:extLst>
          </p:cNvPr>
          <p:cNvSpPr txBox="1"/>
          <p:nvPr/>
        </p:nvSpPr>
        <p:spPr>
          <a:xfrm>
            <a:off x="2757581" y="1272679"/>
            <a:ext cx="6696075" cy="5355312"/>
          </a:xfrm>
          <a:prstGeom prst="rect">
            <a:avLst/>
          </a:prstGeom>
          <a:noFill/>
        </p:spPr>
        <p:txBody>
          <a:bodyPr wrap="square">
            <a:spAutoFit/>
          </a:bodyPr>
          <a:lstStyle/>
          <a:p>
            <a:r>
              <a:rPr lang="en-US" dirty="0"/>
              <a:t>Our </a:t>
            </a:r>
            <a:r>
              <a:rPr lang="en-US" dirty="0" err="1"/>
              <a:t>Solution:We</a:t>
            </a:r>
            <a:r>
              <a:rPr lang="en-US" dirty="0"/>
              <a:t> are developing an Excel-based employee performance analysis tool designed to streamline the evaluation process by integrating key performance indicators (KPIs) into a single, user-friendly platform. This tool will feature data input templates, automated performance metrics calculations, and interactive dashboards that provide real-time insights into individual and team performance. The tool will also include trend analysis and benchmarking capabilities to facilitate informed decision-</a:t>
            </a:r>
            <a:r>
              <a:rPr lang="en-US" dirty="0" err="1"/>
              <a:t>making.Value</a:t>
            </a:r>
            <a:r>
              <a:rPr lang="en-US" dirty="0"/>
              <a:t> Proposition:1. Efficiency: Automates data collection and performance analysis, reducing the time and effort required for manual tracking and reporting.2. Insightfulness: Provides comprehensive visualizations and trend analyses to quickly identify performance patterns and areas needing improvement.3. Customizability: Allows for easy adaptation to specific organizational needs and performance metrics.4. Actionable Data: Supports data-driven decision-making with clear, actionable insights for performance reviews and strategic planning.5. Cost-Effectiveness: Utilizes Excel, a widely available and familiar tool, minimizing the need for additional software investments and training.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Dataset Description</a:t>
            </a:r>
          </a:p>
        </p:txBody>
      </p:sp>
      <p:sp>
        <p:nvSpPr>
          <p:cNvPr id="4" name="TextBox 3">
            <a:extLst>
              <a:ext uri="{FF2B5EF4-FFF2-40B4-BE49-F238E27FC236}">
                <a16:creationId xmlns:a16="http://schemas.microsoft.com/office/drawing/2014/main" id="{3BB5B6D7-F11D-683A-D057-4E5AC3430444}"/>
              </a:ext>
            </a:extLst>
          </p:cNvPr>
          <p:cNvSpPr txBox="1"/>
          <p:nvPr/>
        </p:nvSpPr>
        <p:spPr>
          <a:xfrm>
            <a:off x="600635" y="1242641"/>
            <a:ext cx="7981577" cy="5355312"/>
          </a:xfrm>
          <a:prstGeom prst="rect">
            <a:avLst/>
          </a:prstGeom>
          <a:noFill/>
        </p:spPr>
        <p:txBody>
          <a:bodyPr wrap="square">
            <a:spAutoFit/>
          </a:bodyPr>
          <a:lstStyle/>
          <a:p>
            <a:r>
              <a:rPr lang="en-US" dirty="0"/>
              <a:t>Dataset </a:t>
            </a:r>
            <a:r>
              <a:rPr lang="en-US" dirty="0" err="1"/>
              <a:t>Description:The</a:t>
            </a:r>
            <a:r>
              <a:rPr lang="en-US" dirty="0"/>
              <a:t> dataset for the employee performance analysis tool consists of several key components, each designed to capture various aspects of employee performance:1. Employee </a:t>
            </a:r>
            <a:r>
              <a:rPr lang="en-US" dirty="0" err="1"/>
              <a:t>Information:Employee</a:t>
            </a:r>
            <a:r>
              <a:rPr lang="en-US" dirty="0"/>
              <a:t> ID: Unique identifier for each </a:t>
            </a:r>
            <a:r>
              <a:rPr lang="en-US" dirty="0" err="1"/>
              <a:t>employee.Name</a:t>
            </a:r>
            <a:r>
              <a:rPr lang="en-US" dirty="0"/>
              <a:t>: Full name of the </a:t>
            </a:r>
            <a:r>
              <a:rPr lang="en-US" dirty="0" err="1"/>
              <a:t>employee.Department</a:t>
            </a:r>
            <a:r>
              <a:rPr lang="en-US" dirty="0"/>
              <a:t>: Department or team to which the employee </a:t>
            </a:r>
            <a:r>
              <a:rPr lang="en-US" dirty="0" err="1"/>
              <a:t>belongs.Position</a:t>
            </a:r>
            <a:r>
              <a:rPr lang="en-US" dirty="0"/>
              <a:t>: Job title or role of the employee.2. Performance </a:t>
            </a:r>
            <a:r>
              <a:rPr lang="en-US" dirty="0" err="1"/>
              <a:t>Metrics:Productivity</a:t>
            </a:r>
            <a:r>
              <a:rPr lang="en-US" dirty="0"/>
              <a:t>: Quantitative measures such as completed tasks, sales figures, or output </a:t>
            </a:r>
            <a:r>
              <a:rPr lang="en-US" dirty="0" err="1"/>
              <a:t>volumes.Quality</a:t>
            </a:r>
            <a:r>
              <a:rPr lang="en-US" dirty="0"/>
              <a:t> of Work: Ratings or scores based on work reviews, error rates, or customer </a:t>
            </a:r>
            <a:r>
              <a:rPr lang="en-US" dirty="0" err="1"/>
              <a:t>feedback.Attendance</a:t>
            </a:r>
            <a:r>
              <a:rPr lang="en-US" dirty="0"/>
              <a:t>: Records of attendance, including days present, absent, and late </a:t>
            </a:r>
            <a:r>
              <a:rPr lang="en-US" dirty="0" err="1"/>
              <a:t>arrivals.Adherence</a:t>
            </a:r>
            <a:r>
              <a:rPr lang="en-US" dirty="0"/>
              <a:t> to Deadlines: Tracking of project deadlines met or missed.3. Time </a:t>
            </a:r>
            <a:r>
              <a:rPr lang="en-US" dirty="0" err="1"/>
              <a:t>Period:Date</a:t>
            </a:r>
            <a:r>
              <a:rPr lang="en-US" dirty="0"/>
              <a:t> Range: Specific periods for which performance data is recorded (e.g., monthly, quarterly).4. Ratings and </a:t>
            </a:r>
            <a:r>
              <a:rPr lang="en-US" dirty="0" err="1"/>
              <a:t>Reviews:Manager’s</a:t>
            </a:r>
            <a:r>
              <a:rPr lang="en-US" dirty="0"/>
              <a:t> Rating: Scores or comments provided by supervisors during performance </a:t>
            </a:r>
            <a:r>
              <a:rPr lang="en-US" dirty="0" err="1"/>
              <a:t>reviews.Self</a:t>
            </a:r>
            <a:r>
              <a:rPr lang="en-US" dirty="0"/>
              <a:t>-Evaluation: Employee’s self-assessment scores or feedback.5. Additional </a:t>
            </a:r>
            <a:r>
              <a:rPr lang="en-US" dirty="0" err="1"/>
              <a:t>Data:Training</a:t>
            </a:r>
            <a:r>
              <a:rPr lang="en-US" dirty="0"/>
              <a:t> and Development: Records of completed training programs or skill development </a:t>
            </a:r>
            <a:r>
              <a:rPr lang="en-US" dirty="0" err="1"/>
              <a:t>activities.Goals</a:t>
            </a:r>
            <a:r>
              <a:rPr lang="en-US" dirty="0"/>
              <a:t> and Achievements: Information on specific goals set and accomplishments </a:t>
            </a:r>
            <a:r>
              <a:rPr lang="en-US" dirty="0" err="1"/>
              <a:t>achieved.This</a:t>
            </a:r>
            <a:r>
              <a:rPr lang="en-US" dirty="0"/>
              <a:t> dataset is structured to facilitate comprehensive analysis, enabling comparisons, trend identification, and performance benchmarking across different time periods, departments, and roles.</a:t>
            </a:r>
          </a:p>
        </p:txBody>
      </p:sp>
    </p:spTree>
    <p:extLst>
      <p:ext uri="{BB962C8B-B14F-4D97-AF65-F5344CB8AC3E}">
        <p14:creationId xmlns:p14="http://schemas.microsoft.com/office/powerpoint/2010/main" val="27206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9</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A488512-D2E9-F571-7137-F76834ED06D8}"/>
              </a:ext>
            </a:extLst>
          </p:cNvPr>
          <p:cNvSpPr txBox="1"/>
          <p:nvPr/>
        </p:nvSpPr>
        <p:spPr>
          <a:xfrm>
            <a:off x="2294592" y="1166842"/>
            <a:ext cx="8218610" cy="4524315"/>
          </a:xfrm>
          <a:prstGeom prst="rect">
            <a:avLst/>
          </a:prstGeom>
          <a:noFill/>
        </p:spPr>
        <p:txBody>
          <a:bodyPr wrap="square">
            <a:spAutoFit/>
          </a:bodyPr>
          <a:lstStyle/>
          <a:p>
            <a:r>
              <a:rPr lang="en-US" dirty="0"/>
              <a:t>The "Wow" Factor of Our </a:t>
            </a:r>
            <a:r>
              <a:rPr lang="en-US" dirty="0" err="1"/>
              <a:t>Solution:Our</a:t>
            </a:r>
            <a:r>
              <a:rPr lang="en-US" dirty="0"/>
              <a:t> solution offers a transformative approach to employee performance management through an Excel-based tool that seamlessly integrates advanced analysis features with intuitive design. The "Wow" factor includes:1. Real-Time Insights: Dynamic dashboards and interactive visualizations provide immediate feedback on performance metrics, making it easy to spot trends and anomalies at a glance.2. Automated Reporting: Streamlined data processing and automated performance calculations reduce manual effort, ensuring accuracy and saving valuable time.3. Customizable Metrics: Flexible design allows for the incorporation of organization-specific KPIs and performance indicators, adapting to unique needs and objectives.4. User-Friendly Interface: An intuitive interface and easy-to-navigate structure make it accessible for all users, regardless of their technical expertise.5. Actionable Analytics: Comprehensive reports and visualizations translate complex data into clear, actionable insights, supporting strategic decisions and targeted </a:t>
            </a:r>
            <a:r>
              <a:rPr lang="en-US" dirty="0" err="1"/>
              <a:t>improvements.This</a:t>
            </a:r>
            <a:r>
              <a:rPr lang="en-US" dirty="0"/>
              <a:t> solution not only enhances the efficiency and accuracy of performance management but also empowers users with actionable insights that drive better decision-making and foster continuous improvement.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TextBox 2">
            <a:extLst>
              <a:ext uri="{FF2B5EF4-FFF2-40B4-BE49-F238E27FC236}">
                <a16:creationId xmlns:a16="http://schemas.microsoft.com/office/drawing/2014/main" id="{517DA0A9-EFE9-F53F-577C-BC174804C893}"/>
              </a:ext>
            </a:extLst>
          </p:cNvPr>
          <p:cNvSpPr txBox="1"/>
          <p:nvPr/>
        </p:nvSpPr>
        <p:spPr>
          <a:xfrm>
            <a:off x="452081" y="954315"/>
            <a:ext cx="11476953" cy="5632311"/>
          </a:xfrm>
          <a:prstGeom prst="rect">
            <a:avLst/>
          </a:prstGeom>
          <a:noFill/>
        </p:spPr>
        <p:txBody>
          <a:bodyPr wrap="square">
            <a:spAutoFit/>
          </a:bodyPr>
          <a:lstStyle/>
          <a:p>
            <a:r>
              <a:rPr lang="en-US" dirty="0"/>
              <a:t>Modeling for Employee Performance </a:t>
            </a:r>
            <a:r>
              <a:rPr lang="en-US" dirty="0" err="1"/>
              <a:t>Analysis:The</a:t>
            </a:r>
            <a:r>
              <a:rPr lang="en-US" dirty="0"/>
              <a:t> modeling phase involves creating a structured approach to analyze and visualize employee performance data in Excel. Here’s a breakdown of the key components:1. Data </a:t>
            </a:r>
            <a:r>
              <a:rPr lang="en-US" dirty="0" err="1"/>
              <a:t>Input:Data</a:t>
            </a:r>
            <a:r>
              <a:rPr lang="en-US" dirty="0"/>
              <a:t> Collection Sheets: Develop standardized templates for inputting employee data, including performance metrics, attendance records, and </a:t>
            </a:r>
            <a:r>
              <a:rPr lang="en-US" dirty="0" err="1"/>
              <a:t>feedback.Data</a:t>
            </a:r>
            <a:r>
              <a:rPr lang="en-US" dirty="0"/>
              <a:t> Validation: Implement validation rules to ensure data accuracy and consistency, such as dropdown lists for predefined options and range checks for numerical values.2. Performance Metrics </a:t>
            </a:r>
            <a:r>
              <a:rPr lang="en-US" dirty="0" err="1"/>
              <a:t>Calculation:Formulas</a:t>
            </a:r>
            <a:r>
              <a:rPr lang="en-US" dirty="0"/>
              <a:t> and Functions: Use Excel functions like AVERAGE, SUM, IF, and VLOOKUP to calculate key performance indicators (KPIs) from raw data. Create formulas for productivity scores, quality ratings, and attendance </a:t>
            </a:r>
            <a:r>
              <a:rPr lang="en-US" dirty="0" err="1"/>
              <a:t>percentages.Conditional</a:t>
            </a:r>
            <a:r>
              <a:rPr lang="en-US" dirty="0"/>
              <a:t> Formatting: Apply conditional formatting to highlight performance trends, such as exceeding targets or areas requiring improvement.3. Data </a:t>
            </a:r>
            <a:r>
              <a:rPr lang="en-US" dirty="0" err="1"/>
              <a:t>Aggregation:Pivot</a:t>
            </a:r>
            <a:r>
              <a:rPr lang="en-US" dirty="0"/>
              <a:t> Tables: Create pivot tables to aggregate and summarize data by employee, department, or time period. This allows for flexible reporting and detailed </a:t>
            </a:r>
            <a:r>
              <a:rPr lang="en-US" dirty="0" err="1"/>
              <a:t>analysis.Data</a:t>
            </a:r>
            <a:r>
              <a:rPr lang="en-US" dirty="0"/>
              <a:t> Consolidation: Develop a master sheet that consolidates performance data from different sources for a comprehensive view.4. </a:t>
            </a:r>
            <a:r>
              <a:rPr lang="en-US" dirty="0" err="1"/>
              <a:t>Visualization:Dashboards</a:t>
            </a:r>
            <a:r>
              <a:rPr lang="en-US" dirty="0"/>
              <a:t>: Design interactive dashboards using charts (e.g., bar, line, pie) and graphs to visually represent performance metrics and </a:t>
            </a:r>
            <a:r>
              <a:rPr lang="en-US" dirty="0" err="1"/>
              <a:t>trends.Trend</a:t>
            </a:r>
            <a:r>
              <a:rPr lang="en-US" dirty="0"/>
              <a:t> Analysis: Incorporate line charts and </a:t>
            </a:r>
            <a:r>
              <a:rPr lang="en-US" dirty="0" err="1"/>
              <a:t>sparklines</a:t>
            </a:r>
            <a:r>
              <a:rPr lang="en-US" dirty="0"/>
              <a:t> to show performance trends over time and identify patterns.5. Benchmarking and </a:t>
            </a:r>
            <a:r>
              <a:rPr lang="en-US" dirty="0" err="1"/>
              <a:t>Comparison:Benchmarking</a:t>
            </a:r>
            <a:r>
              <a:rPr lang="en-US" dirty="0"/>
              <a:t> Tables: Create tables to compare individual performance against departmental or organizational </a:t>
            </a:r>
            <a:r>
              <a:rPr lang="en-US" dirty="0" err="1"/>
              <a:t>benchmarks.Scenario</a:t>
            </a:r>
            <a:r>
              <a:rPr lang="en-US" dirty="0"/>
              <a:t> Analysis: Use scenario analysis tools to model different performance outcomes based on varying conditions or assumptions.6. </a:t>
            </a:r>
            <a:r>
              <a:rPr lang="en-US" dirty="0" err="1"/>
              <a:t>Reporting:Automated</a:t>
            </a:r>
            <a:r>
              <a:rPr lang="en-US" dirty="0"/>
              <a:t> Reports: Develop templates for generating regular performance reports, including summary statistics and detailed </a:t>
            </a:r>
            <a:r>
              <a:rPr lang="en-US" dirty="0" err="1"/>
              <a:t>breakdowns.Customizable</a:t>
            </a:r>
            <a:r>
              <a:rPr lang="en-US" dirty="0"/>
              <a:t> Reports: Allow users to customize reports based on specific needs or performance </a:t>
            </a:r>
            <a:r>
              <a:rPr lang="en-US" dirty="0" err="1"/>
              <a:t>criteria.This</a:t>
            </a:r>
            <a:r>
              <a:rPr lang="en-US" dirty="0"/>
              <a:t> modeling approach ensures a comprehensive and dynamic analysis of employee performance, providing actionable insights through well-organized data and visually appealing reports.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
        <p:nvSpPr>
          <p:cNvPr id="8" name="TextBox 7">
            <a:extLst>
              <a:ext uri="{FF2B5EF4-FFF2-40B4-BE49-F238E27FC236}">
                <a16:creationId xmlns:a16="http://schemas.microsoft.com/office/drawing/2014/main" id="{5F33848B-D8E8-0686-2432-22CBC0F64B03}"/>
              </a:ext>
            </a:extLst>
          </p:cNvPr>
          <p:cNvSpPr txBox="1"/>
          <p:nvPr/>
        </p:nvSpPr>
        <p:spPr>
          <a:xfrm>
            <a:off x="481106" y="1257210"/>
            <a:ext cx="6101976" cy="1200329"/>
          </a:xfrm>
          <a:prstGeom prst="rect">
            <a:avLst/>
          </a:prstGeom>
          <a:noFill/>
        </p:spPr>
        <p:txBody>
          <a:bodyPr wrap="square">
            <a:spAutoFit/>
          </a:bodyPr>
          <a:lstStyle/>
          <a:p>
            <a:r>
              <a:rPr lang="en-US" dirty="0"/>
              <a:t>Certainly! Here’s a tabular format for the result table with four sample </a:t>
            </a:r>
            <a:r>
              <a:rPr lang="en-US" dirty="0" err="1"/>
              <a:t>employees:This</a:t>
            </a:r>
            <a:r>
              <a:rPr lang="en-US" dirty="0"/>
              <a:t> table provides a detailed overview of each employee's performance, including key metrics, rankings, and comments.</a:t>
            </a:r>
          </a:p>
        </p:txBody>
      </p:sp>
      <p:pic>
        <p:nvPicPr>
          <p:cNvPr id="10" name="Picture 10">
            <a:extLst>
              <a:ext uri="{FF2B5EF4-FFF2-40B4-BE49-F238E27FC236}">
                <a16:creationId xmlns:a16="http://schemas.microsoft.com/office/drawing/2014/main" id="{B645729E-1F2D-1EF7-50E4-9A97B13B6F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213" y="2571115"/>
            <a:ext cx="5569269" cy="40107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5CB5B-BDD0-5A64-1A7C-37D3C88F8F9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935D077-7C47-53CF-2362-E753E614C11E}"/>
              </a:ext>
            </a:extLst>
          </p:cNvPr>
          <p:cNvSpPr txBox="1"/>
          <p:nvPr/>
        </p:nvSpPr>
        <p:spPr>
          <a:xfrm>
            <a:off x="839694" y="1699469"/>
            <a:ext cx="6101976" cy="3139321"/>
          </a:xfrm>
          <a:prstGeom prst="rect">
            <a:avLst/>
          </a:prstGeom>
          <a:noFill/>
        </p:spPr>
        <p:txBody>
          <a:bodyPr wrap="square">
            <a:spAutoFit/>
          </a:bodyPr>
          <a:lstStyle/>
          <a:p>
            <a:r>
              <a:rPr lang="en-US" dirty="0"/>
              <a:t>The implementation of the Excel-based performance analysis tool has significantly improved our ability to track and evaluate employee performance. By integrating productivity scores, quality ratings, and overall performance evaluations, the tool enhances efficiency and accuracy in performance assessments. It provides clear, actionable insights through automated calculations and visualizations, facilitating informed decision-making and targeted development. This solution not only saves time but also offers a customizable approach to meet specific organizational needs, ultimately supporting better management and continuous improvement.</a:t>
            </a:r>
          </a:p>
        </p:txBody>
      </p:sp>
    </p:spTree>
    <p:extLst>
      <p:ext uri="{BB962C8B-B14F-4D97-AF65-F5344CB8AC3E}">
        <p14:creationId xmlns:p14="http://schemas.microsoft.com/office/powerpoint/2010/main" val="2986442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178</TotalTime>
  <Words>90</Words>
  <Application>Microsoft Office PowerPoint</Application>
  <PresentationFormat>Widescreen</PresentationFormat>
  <Paragraphs>41</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THE "WOW" IN OUR SOLUTION</vt:lpstr>
      <vt:lpstr>PowerPoint Presentation</vt:lpstr>
      <vt:lpstr>RESULTS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Keerthika G</cp:lastModifiedBy>
  <cp:revision>14</cp:revision>
  <dcterms:created xsi:type="dcterms:W3CDTF">2024-03-29T15:07:22Z</dcterms:created>
  <dcterms:modified xsi:type="dcterms:W3CDTF">2024-09-12T05:46:23Z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